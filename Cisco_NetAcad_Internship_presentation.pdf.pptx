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5879592" cy="685800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1247120" y="5394960"/>
            <a:ext cx="2377440" cy="2377440"/>
          </a:xfrm>
          <a:prstGeom prst="ellipse">
            <a:avLst/>
          </a:prstGeom>
          <a:solidFill>
            <a:srgbClr val="1A2B4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68580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786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NETWORKING ACADEMY  ·  VERIFIED INTERNSHIP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30352" y="233172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Technician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Path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77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Internship Presentation Report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080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– June 2026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7F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CREDENTIALS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20840" y="86868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95160" y="1051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Ankit Kumar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/ Roll No.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18105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2410031474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923544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Batch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235440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(CSE)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720840" y="525780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3A6BFF"/>
          </a:solidFill>
          <a:ln w="12700">
            <a:solidFill>
              <a:srgbClr val="3A6B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95160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995160" y="5650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Networking Academy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995160" y="5943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through IILM University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&amp; Program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8575">
            <a:solidFill>
              <a:srgbClr val="2F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822960"/>
            <a:ext cx="3291840" cy="3291840"/>
          </a:xfrm>
          <a:prstGeom prst="ellipse">
            <a:avLst/>
          </a:prstGeom>
          <a:solidFill>
            <a:srgbClr val="EEF2F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74520"/>
            <a:ext cx="5257800" cy="3840480"/>
          </a:xfrm>
          <a:prstGeom prst="roundRect">
            <a:avLst>
              <a:gd name="adj" fmla="val 1667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54864" cy="3840480"/>
          </a:xfrm>
          <a:prstGeom prst="rect">
            <a:avLst/>
          </a:prstGeom>
          <a:solidFill>
            <a:srgbClr val="2F5B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Details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346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</a:t>
            </a:r>
            <a:pPr indent="0" marL="0">
              <a:buNone/>
            </a:pPr>
            <a:r>
              <a:rPr lang="en-US" sz="13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KUMAR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4107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</a:t>
            </a:r>
            <a:pPr indent="0" marL="0">
              <a:buNone/>
            </a:pPr>
            <a:r>
              <a:rPr lang="en-US" sz="13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2410031474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98678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 </a:t>
            </a:r>
            <a:pPr indent="0" marL="0">
              <a:buNone/>
            </a:pPr>
            <a:r>
              <a:rPr lang="en-US" sz="13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(Computer Science &amp; Engineering)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56285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Batch: </a:t>
            </a:r>
            <a:pPr indent="0" marL="0">
              <a:buNone/>
            </a:pPr>
            <a:r>
              <a:rPr lang="en-US" sz="13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2024-2028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51389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</a:t>
            </a:r>
            <a:pPr indent="0" marL="0">
              <a:buNone/>
            </a:pPr>
            <a:r>
              <a:rPr lang="en-US" sz="13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874520"/>
            <a:ext cx="5257800" cy="3840480"/>
          </a:xfrm>
          <a:prstGeom prst="roundRect">
            <a:avLst>
              <a:gd name="adj" fmla="val 1667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0" y="1874520"/>
            <a:ext cx="54864" cy="3840480"/>
          </a:xfrm>
          <a:prstGeom prst="rect">
            <a:avLst/>
          </a:prstGeom>
          <a:solidFill>
            <a:srgbClr val="2F5B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94560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08660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Profile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28346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Name: </a:t>
            </a:r>
            <a:pPr indent="0" marL="0">
              <a:buNone/>
            </a:pPr>
            <a:r>
              <a:rPr lang="en-US" sz="13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Networking Academy Verified Path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34107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Domain: </a:t>
            </a:r>
            <a:pPr indent="0" marL="0">
              <a:buNone/>
            </a:pPr>
            <a:r>
              <a:rPr lang="en-US" sz="13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Technician / Computer Networking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6583680" y="398678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buNone/>
            </a:pPr>
            <a:r>
              <a:rPr lang="en-US" sz="13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– June 2026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456285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On: </a:t>
            </a:r>
            <a:pPr indent="0" marL="0">
              <a:buNone/>
            </a:pPr>
            <a:r>
              <a:rPr lang="en-US" sz="13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16, 2026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6583680" y="51389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Via: </a:t>
            </a:r>
            <a:pPr indent="0" marL="0">
              <a:buNone/>
            </a:pPr>
            <a:r>
              <a:rPr lang="en-US" sz="13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Engineering, IILM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Profile: Cisco Networking Academy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8575">
            <a:solidFill>
              <a:srgbClr val="2F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822960"/>
            <a:ext cx="3291840" cy="3291840"/>
          </a:xfrm>
          <a:prstGeom prst="ellipse">
            <a:avLst/>
          </a:prstGeom>
          <a:solidFill>
            <a:srgbClr val="EEF2FC">
              <a:alpha val="7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78308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Networking Academy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Cisco Systems’ global IT skills and career-building program, delivered in partnership with academic institutions worldwide to build industry-ready networking talent.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880360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282549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Collaboration: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through the School of Computer Science and Engineering, IILM University, empowering student networking talent.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794760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0120" y="373989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Alignment: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Cisco's globally recognized curriculum, bridging academic learning and real-world network-technician skills.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09160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60120" y="465429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 Domains: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Fundamentals, Ethernet Switching, IP Addressing, Wireless Configuration, and Network Security.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7315200" y="178308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2103120"/>
            <a:ext cx="502920" cy="5029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68096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Snapshot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768096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A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0"/>
          <p:cNvSpPr txBox="1"/>
          <p:nvPr/>
        </p:nvSpPr>
        <p:spPr>
          <a:xfrm>
            <a:off x="768096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completed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7680960" y="4087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A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7680960" y="4544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credential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7680960" y="4928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A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2026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7680960" y="5385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&amp; verified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Program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8575">
            <a:solidFill>
              <a:srgbClr val="2F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822960"/>
            <a:ext cx="3291840" cy="3291840"/>
          </a:xfrm>
          <a:prstGeom prst="ellipse">
            <a:avLst/>
          </a:prstGeom>
          <a:solidFill>
            <a:srgbClr val="EEF2F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28800"/>
            <a:ext cx="5257800" cy="3931920"/>
          </a:xfrm>
          <a:prstGeom prst="roundRect">
            <a:avLst>
              <a:gd name="adj" fmla="val 1628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54864" cy="393192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Skills Gap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74320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engineering curricula extensively cover networking theory, students often lack hands-on exposure to configuring, securing, and troubleshooting real network devices.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16052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protocols and addressing on paper is only one part of network literacy; diagnosing connectivity issues and securing access is rarely practiced.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828800"/>
            <a:ext cx="5257800" cy="3931920"/>
          </a:xfrm>
          <a:prstGeom prst="roundRect">
            <a:avLst>
              <a:gd name="adj" fmla="val 1628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1828800"/>
            <a:ext cx="54864" cy="3931920"/>
          </a:xfrm>
          <a:prstGeom prst="rect">
            <a:avLst/>
          </a:prstGeom>
          <a:solidFill>
            <a:srgbClr val="1E8E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4884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8660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Program's Scope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274320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addresses the full scope of entry-level network technician tasks — standards, switching, addressing, wireless, routing, and troubleshooting.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416052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Cisco Packet Tracer simulation to transform classroom concepts into configured, secured, and diagnosable network environments.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8575">
            <a:solidFill>
              <a:srgbClr val="2F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822960"/>
            <a:ext cx="3291840" cy="3291840"/>
          </a:xfrm>
          <a:prstGeom prst="ellipse">
            <a:avLst/>
          </a:prstGeom>
          <a:solidFill>
            <a:srgbClr val="EEF2F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920240"/>
            <a:ext cx="2446020" cy="3566160"/>
          </a:xfrm>
          <a:prstGeom prst="roundRect">
            <a:avLst>
              <a:gd name="adj" fmla="val 2617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880360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&amp; Protocols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11880"/>
            <a:ext cx="18973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importance of standards and protocols in network communications.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06140" y="1920240"/>
            <a:ext cx="2446020" cy="3566160"/>
          </a:xfrm>
          <a:prstGeom prst="roundRect">
            <a:avLst>
              <a:gd name="adj" fmla="val 2617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2402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80460" y="2880360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 &amp; Switching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3680460" y="3611880"/>
            <a:ext cx="18973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communication and Ethernet operate within a switched network.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09360" y="1920240"/>
            <a:ext cx="2446020" cy="3566160"/>
          </a:xfrm>
          <a:prstGeom prst="roundRect">
            <a:avLst>
              <a:gd name="adj" fmla="val 2617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2402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83680" y="2880360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Configuration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6583680" y="3611880"/>
            <a:ext cx="18973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an integrated wireless router and client to connect securely to the internet.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9212580" y="1920240"/>
            <a:ext cx="2446020" cy="3566160"/>
          </a:xfrm>
          <a:prstGeom prst="roundRect">
            <a:avLst>
              <a:gd name="adj" fmla="val 2617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22402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486900" y="2880360"/>
            <a:ext cx="189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Access</a:t>
            </a:r>
            <a:endParaRPr lang="en-US" sz="1550" dirty="0"/>
          </a:p>
        </p:txBody>
      </p:sp>
      <p:sp>
        <p:nvSpPr>
          <p:cNvPr id="20" name="Text 14"/>
          <p:cNvSpPr txBox="1"/>
          <p:nvPr/>
        </p:nvSpPr>
        <p:spPr>
          <a:xfrm>
            <a:off x="9486900" y="3611880"/>
            <a:ext cx="18973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secure user access and apply effective troubleshooting methodology.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&amp; Networking Toolkit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8575">
            <a:solidFill>
              <a:srgbClr val="2F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822960"/>
            <a:ext cx="3291840" cy="3291840"/>
          </a:xfrm>
          <a:prstGeom prst="ellipse">
            <a:avLst/>
          </a:prstGeom>
          <a:solidFill>
            <a:srgbClr val="EEF2F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920240"/>
            <a:ext cx="2446020" cy="3566160"/>
          </a:xfrm>
          <a:prstGeom prst="roundRect">
            <a:avLst>
              <a:gd name="adj" fmla="val 2617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880360"/>
            <a:ext cx="1897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&amp; Design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2044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Packet Tracer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38912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building &amp; testing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06140" y="1920240"/>
            <a:ext cx="2446020" cy="3566160"/>
          </a:xfrm>
          <a:prstGeom prst="roundRect">
            <a:avLst>
              <a:gd name="adj" fmla="val 2617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240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80460" y="2880360"/>
            <a:ext cx="1897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&amp; Routing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680460" y="352044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and IPv6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3680460" y="438912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Network-layer protocols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09360" y="1920240"/>
            <a:ext cx="2446020" cy="3566160"/>
          </a:xfrm>
          <a:prstGeom prst="roundRect">
            <a:avLst>
              <a:gd name="adj" fmla="val 2617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240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83680" y="2880360"/>
            <a:ext cx="1897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&amp; Transport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583680" y="352044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DHCP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583680" y="438912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TCP/UDP fundamentals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212580" y="1920240"/>
            <a:ext cx="2446020" cy="3566160"/>
          </a:xfrm>
          <a:prstGeom prst="roundRect">
            <a:avLst>
              <a:gd name="adj" fmla="val 2617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22402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86900" y="2880360"/>
            <a:ext cx="1897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Support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486900" y="352044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configuration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9486900" y="438912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Help-desk troubleshooting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8575">
            <a:solidFill>
              <a:srgbClr val="2F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822960"/>
            <a:ext cx="3291840" cy="3291840"/>
          </a:xfrm>
          <a:prstGeom prst="ellipse">
            <a:avLst/>
          </a:prstGeom>
          <a:solidFill>
            <a:srgbClr val="EEF2FC">
              <a:alpha val="7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1783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Layer: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access controls and structured troubleshooting/help-desk procedures.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24912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267919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Layer: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and DHCP servers providing name resolution and automatic address assignment.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21024"/>
            <a:ext cx="329184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60120" y="3575304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Layer: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 governing reliable and best-effort end-to-end host communication.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517136"/>
            <a:ext cx="329184" cy="32918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60120" y="447141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using routing services and protocols for end-to-end connectivity.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5413248"/>
            <a:ext cx="329184" cy="32918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60120" y="536752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Layer: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provide Ethernet connectivity; a wireless router/AP provides secure access.</a:t>
            </a:r>
            <a:endParaRPr lang="en-US" sz="1250" dirty="0"/>
          </a:p>
        </p:txBody>
      </p:sp>
      <p:sp>
        <p:nvSpPr>
          <p:cNvPr id="15" name="Shape 8"/>
          <p:cNvSpPr/>
          <p:nvPr/>
        </p:nvSpPr>
        <p:spPr>
          <a:xfrm>
            <a:off x="6492240" y="1828800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3A6BFF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2002536"/>
            <a:ext cx="365760" cy="36576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269480" y="182880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End-Device Layer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8869680" y="25237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1"/>
          <p:cNvSpPr/>
          <p:nvPr/>
        </p:nvSpPr>
        <p:spPr>
          <a:xfrm>
            <a:off x="6492240" y="2798064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2F5BFF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2971800"/>
            <a:ext cx="365760" cy="36576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269480" y="2798064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Layer (Switch / AP)</a:t>
            </a:r>
            <a:endParaRPr lang="en-US" sz="1300" dirty="0"/>
          </a:p>
        </p:txBody>
      </p:sp>
      <p:sp>
        <p:nvSpPr>
          <p:cNvPr id="22" name="Text 13"/>
          <p:cNvSpPr txBox="1"/>
          <p:nvPr/>
        </p:nvSpPr>
        <p:spPr>
          <a:xfrm>
            <a:off x="8869680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14"/>
          <p:cNvSpPr/>
          <p:nvPr/>
        </p:nvSpPr>
        <p:spPr>
          <a:xfrm>
            <a:off x="6492240" y="3767328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2A4FDB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3941064"/>
            <a:ext cx="365760" cy="36576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269480" y="376732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 (Router)</a:t>
            </a:r>
            <a:endParaRPr lang="en-US" sz="1300" dirty="0"/>
          </a:p>
        </p:txBody>
      </p:sp>
      <p:sp>
        <p:nvSpPr>
          <p:cNvPr id="26" name="Text 16"/>
          <p:cNvSpPr txBox="1"/>
          <p:nvPr/>
        </p:nvSpPr>
        <p:spPr>
          <a:xfrm>
            <a:off x="8869680" y="4462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17"/>
          <p:cNvSpPr/>
          <p:nvPr/>
        </p:nvSpPr>
        <p:spPr>
          <a:xfrm>
            <a:off x="6492240" y="4736592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2447C9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4910328"/>
            <a:ext cx="365760" cy="36576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7269480" y="473659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Layer</a:t>
            </a:r>
            <a:endParaRPr lang="en-US" sz="1300" dirty="0"/>
          </a:p>
        </p:txBody>
      </p:sp>
      <p:sp>
        <p:nvSpPr>
          <p:cNvPr id="30" name="Text 19"/>
          <p:cNvSpPr txBox="1"/>
          <p:nvPr/>
        </p:nvSpPr>
        <p:spPr>
          <a:xfrm>
            <a:off x="8869680" y="54315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Shape 20"/>
          <p:cNvSpPr/>
          <p:nvPr/>
        </p:nvSpPr>
        <p:spPr>
          <a:xfrm>
            <a:off x="6492240" y="5705856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1E3EB0"/>
          </a:solidFill>
          <a:ln/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5879592"/>
            <a:ext cx="365760" cy="36576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7269480" y="5705856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Layer (DNS/DHCP)</a:t>
            </a:r>
            <a:endParaRPr lang="en-US" sz="1300" dirty="0"/>
          </a:p>
        </p:txBody>
      </p:sp>
      <p:sp>
        <p:nvSpPr>
          <p:cNvPr id="34" name="Text 22"/>
          <p:cNvSpPr txBox="1"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Journey (Methodology)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8575">
            <a:solidFill>
              <a:srgbClr val="2F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822960"/>
            <a:ext cx="3291840" cy="3291840"/>
          </a:xfrm>
          <a:prstGeom prst="ellipse">
            <a:avLst/>
          </a:prstGeom>
          <a:solidFill>
            <a:srgbClr val="EEF2F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3794760"/>
            <a:ext cx="9601200" cy="0"/>
          </a:xfrm>
          <a:prstGeom prst="line">
            <a:avLst/>
          </a:prstGeom>
          <a:noFill/>
          <a:ln w="38100">
            <a:solidFill>
              <a:srgbClr val="E4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9344" y="3666744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F5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828800"/>
            <a:ext cx="3108960" cy="1645920"/>
          </a:xfrm>
          <a:prstGeom prst="roundRect">
            <a:avLst>
              <a:gd name="adj" fmla="val 3889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" y="1956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322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Essentials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70662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concepts: standards, protocols, Ethernet communication, IPv4/IPv6 addressing.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81344" y="3666744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F5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4114800"/>
            <a:ext cx="3108960" cy="1645920"/>
          </a:xfrm>
          <a:prstGeom prst="roundRect">
            <a:avLst>
              <a:gd name="adj" fmla="val 3889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4242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4608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with Packet Tracer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499262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simulation to build, configure and test small network topologies.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753344" y="3666744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F5B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0" y="1828800"/>
            <a:ext cx="3108960" cy="1645920"/>
          </a:xfrm>
          <a:prstGeom prst="roundRect">
            <a:avLst>
              <a:gd name="adj" fmla="val 3889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0" y="1956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509760" y="2322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 Capstone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270662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networks, wireless config, routing, troubleshooting &amp; secure access — the verified credential.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5989320"/>
            <a:ext cx="11155680" cy="594360"/>
          </a:xfrm>
          <a:prstGeom prst="roundRect">
            <a:avLst>
              <a:gd name="adj" fmla="val 12308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9893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concluded with assessments; the capstone required demonstrating practical skills before the Cisco-verified credential was issued.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Skills &amp; Demonstrated Competencies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8575">
            <a:solidFill>
              <a:srgbClr val="2F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822960"/>
            <a:ext cx="3291840" cy="3291840"/>
          </a:xfrm>
          <a:prstGeom prst="ellipse">
            <a:avLst/>
          </a:prstGeom>
          <a:solidFill>
            <a:srgbClr val="EEF2FC">
              <a:alpha val="7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1819656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Standards &amp; Protocols: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the importance of standards and protocols governing network communications.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05840" y="2688336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Network Operation: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how Ethernet and switching operate within a functioning switched network.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1188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05840" y="3557016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IPv4/IPv6 Addressing &amp; Routing: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addressing schemes and configured routers for end-to-end connectivity.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8056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05840" y="4425696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&amp; Secure Access: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an integrated wireless router/client and secured user access on the network.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349240"/>
            <a:ext cx="292608" cy="29260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05840" y="5294376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&amp; Help Desk: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structured troubleshooting methodology and help-desk best practices to resolve DNS/DHCP-based connectivity issues.</a:t>
            </a:r>
            <a:endParaRPr lang="en-US" sz="1400" dirty="0"/>
          </a:p>
        </p:txBody>
      </p:sp>
      <p:sp>
        <p:nvSpPr>
          <p:cNvPr id="15" name="Text 8"/>
          <p:cNvSpPr txBox="1"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&amp; Official Verification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8575">
            <a:solidFill>
              <a:srgbClr val="2F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822960"/>
            <a:ext cx="3291840" cy="3291840"/>
          </a:xfrm>
          <a:prstGeom prst="ellipse">
            <a:avLst/>
          </a:prstGeom>
          <a:solidFill>
            <a:srgbClr val="EEF2FC">
              <a:alpha val="70000"/>
            </a:srgbClr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63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Record / Credential 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Title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Technician Career Path (Verified)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Issuing Organization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Networking Academy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Partnership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IILM University, Greater Noida, U.P.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 Courses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Networking Essentials; Exploring Networking with Cisco Packet Tracer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Issued 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 16, 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5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Lynn Bloomer, Director, Cisco Networking Academy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of Completion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8575">
            <a:solidFill>
              <a:srgbClr val="2F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822960"/>
            <a:ext cx="3291840" cy="3291840"/>
          </a:xfrm>
          <a:prstGeom prst="ellipse">
            <a:avLst/>
          </a:prstGeom>
          <a:solidFill>
            <a:srgbClr val="EEF2F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80360" y="1783080"/>
            <a:ext cx="6400800" cy="4160520"/>
          </a:xfrm>
          <a:prstGeom prst="roundRect">
            <a:avLst>
              <a:gd name="adj" fmla="val 879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920240"/>
            <a:ext cx="6126480" cy="3886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Course Certificates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8575">
            <a:solidFill>
              <a:srgbClr val="2F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822960"/>
            <a:ext cx="3291840" cy="3291840"/>
          </a:xfrm>
          <a:prstGeom prst="ellipse">
            <a:avLst/>
          </a:prstGeom>
          <a:solidFill>
            <a:srgbClr val="EEF2F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920240"/>
            <a:ext cx="5257800" cy="3566160"/>
          </a:xfrm>
          <a:prstGeom prst="roundRect">
            <a:avLst>
              <a:gd name="adj" fmla="val 1026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057400"/>
            <a:ext cx="5020056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920240"/>
            <a:ext cx="5257800" cy="3566160"/>
          </a:xfrm>
          <a:prstGeom prst="roundRect">
            <a:avLst>
              <a:gd name="adj" fmla="val 1026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057400"/>
            <a:ext cx="5020056" cy="3291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822960"/>
            <a:ext cx="3291840" cy="3291840"/>
          </a:xfrm>
          <a:prstGeom prst="ellipse">
            <a:avLst/>
          </a:prstGeom>
          <a:solidFill>
            <a:srgbClr val="EEF2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21488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2651760" y="3429000"/>
            <a:ext cx="6885432" cy="1463040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 w="12700">
            <a:solidFill>
              <a:srgbClr val="E4E9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3703320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3832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Kumar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2410031474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3566160"/>
            <a:ext cx="0" cy="100584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70332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49440" y="3566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4206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2026-08-29T10:45:53Z</dcterms:created>
  <dcterms:modified xsi:type="dcterms:W3CDTF">2026-08-29T10:45:53Z</dcterms:modified>
</cp:coreProperties>
</file>